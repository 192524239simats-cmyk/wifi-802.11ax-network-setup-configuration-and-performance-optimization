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69516" y="-14668"/>
            <a:ext cx="5593715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8560" y="2010155"/>
            <a:ext cx="8063865" cy="3520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2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7645" y="1448371"/>
            <a:ext cx="7129780" cy="2328545"/>
          </a:xfrm>
          <a:prstGeom prst="rect"/>
        </p:spPr>
        <p:txBody>
          <a:bodyPr wrap="square" lIns="0" tIns="97155" rIns="0" bIns="0" rtlCol="0" vert="horz">
            <a:spAutoFit/>
          </a:bodyPr>
          <a:lstStyle/>
          <a:p>
            <a:pPr algn="just" marL="12700" marR="5080" indent="201295">
              <a:lnSpc>
                <a:spcPct val="89800"/>
              </a:lnSpc>
              <a:spcBef>
                <a:spcPts val="765"/>
              </a:spcBef>
            </a:pPr>
            <a:r>
              <a:rPr dirty="0" sz="5400"/>
              <a:t>WiFi</a:t>
            </a:r>
            <a:r>
              <a:rPr dirty="0" sz="5400" spc="-225"/>
              <a:t> </a:t>
            </a:r>
            <a:r>
              <a:rPr dirty="0" sz="5400" spc="-30"/>
              <a:t>(802.11ax)</a:t>
            </a:r>
            <a:r>
              <a:rPr dirty="0" sz="5400" spc="-265"/>
              <a:t> </a:t>
            </a:r>
            <a:r>
              <a:rPr dirty="0" sz="5400" spc="-10"/>
              <a:t>Network </a:t>
            </a:r>
            <a:r>
              <a:rPr dirty="0" sz="5400" spc="-25"/>
              <a:t>Setup,</a:t>
            </a:r>
            <a:r>
              <a:rPr dirty="0" sz="5400" spc="-215"/>
              <a:t> </a:t>
            </a:r>
            <a:r>
              <a:rPr dirty="0" sz="5400" spc="-45"/>
              <a:t>Configuration,</a:t>
            </a:r>
            <a:r>
              <a:rPr dirty="0" sz="5400" spc="-215"/>
              <a:t> </a:t>
            </a:r>
            <a:r>
              <a:rPr dirty="0" sz="5400" spc="-25"/>
              <a:t>and </a:t>
            </a:r>
            <a:r>
              <a:rPr dirty="0" sz="5400" spc="-60"/>
              <a:t>Performance</a:t>
            </a:r>
            <a:r>
              <a:rPr dirty="0" sz="5400" spc="-200"/>
              <a:t> </a:t>
            </a:r>
            <a:r>
              <a:rPr dirty="0" sz="5400" spc="-55"/>
              <a:t>Optimization</a:t>
            </a:r>
            <a:endParaRPr sz="5400"/>
          </a:p>
        </p:txBody>
      </p:sp>
      <p:sp>
        <p:nvSpPr>
          <p:cNvPr id="3" name="object 3" descr=""/>
          <p:cNvSpPr txBox="1"/>
          <p:nvPr/>
        </p:nvSpPr>
        <p:spPr>
          <a:xfrm>
            <a:off x="2051304" y="4640262"/>
            <a:ext cx="3117215" cy="1546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D0D0D"/>
                </a:solidFill>
                <a:latin typeface="Calibri"/>
                <a:cs typeface="Calibri"/>
              </a:rPr>
              <a:t>DONE</a:t>
            </a:r>
            <a:r>
              <a:rPr dirty="0" sz="2400" spc="-5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0D0D0D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  <a:p>
            <a:pPr algn="ctr" marL="3175">
              <a:lnSpc>
                <a:spcPct val="100000"/>
              </a:lnSpc>
              <a:spcBef>
                <a:spcPts val="125"/>
              </a:spcBef>
            </a:pPr>
            <a:r>
              <a:rPr dirty="0" sz="2400" spc="-75">
                <a:solidFill>
                  <a:srgbClr val="0D0D0D"/>
                </a:solidFill>
                <a:latin typeface="Calibri"/>
                <a:cs typeface="Calibri"/>
              </a:rPr>
              <a:t>V.VARSHA-</a:t>
            </a:r>
            <a:r>
              <a:rPr dirty="0" sz="2400" spc="-10">
                <a:solidFill>
                  <a:srgbClr val="0D0D0D"/>
                </a:solidFill>
                <a:latin typeface="Calibri"/>
                <a:cs typeface="Calibri"/>
              </a:rPr>
              <a:t>192524102</a:t>
            </a:r>
            <a:endParaRPr sz="2400">
              <a:latin typeface="Calibri"/>
              <a:cs typeface="Calibri"/>
            </a:endParaRPr>
          </a:p>
          <a:p>
            <a:pPr algn="ctr" marL="12065" marR="5080" indent="3810">
              <a:lnSpc>
                <a:spcPct val="104299"/>
              </a:lnSpc>
              <a:spcBef>
                <a:spcPts val="75"/>
              </a:spcBef>
            </a:pPr>
            <a:r>
              <a:rPr dirty="0" sz="2400" spc="-25">
                <a:solidFill>
                  <a:srgbClr val="0D0D0D"/>
                </a:solidFill>
                <a:latin typeface="Calibri"/>
                <a:cs typeface="Calibri"/>
              </a:rPr>
              <a:t>S.PRAVEEN-</a:t>
            </a:r>
            <a:r>
              <a:rPr dirty="0" sz="2400" spc="-10">
                <a:solidFill>
                  <a:srgbClr val="0D0D0D"/>
                </a:solidFill>
                <a:latin typeface="Calibri"/>
                <a:cs typeface="Calibri"/>
              </a:rPr>
              <a:t>192524239 S.DHARINISH-192524240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276225"/>
            <a:ext cx="2000250" cy="15716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91450" y="171450"/>
            <a:ext cx="2781300" cy="15621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347331" y="4771961"/>
            <a:ext cx="1710689" cy="75438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2860"/>
              </a:lnSpc>
              <a:spcBef>
                <a:spcPts val="215"/>
              </a:spcBef>
            </a:pPr>
            <a:r>
              <a:rPr dirty="0" sz="2400">
                <a:latin typeface="Calibri"/>
                <a:cs typeface="Calibri"/>
              </a:rPr>
              <a:t>GUIDED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BY: </a:t>
            </a:r>
            <a:r>
              <a:rPr dirty="0" sz="2400" spc="-20">
                <a:latin typeface="Calibri"/>
                <a:cs typeface="Calibri"/>
              </a:rPr>
              <a:t>DR.SIVAGAMI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3860" y="256286"/>
            <a:ext cx="1936750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50"/>
              <a:t>AGENDA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675510" y="1215961"/>
            <a:ext cx="3216910" cy="464185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50" spc="-10">
                <a:latin typeface="Calibri"/>
                <a:cs typeface="Calibri"/>
              </a:rPr>
              <a:t>1.ABSTRACT</a:t>
            </a:r>
            <a:endParaRPr sz="1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50" spc="-10">
                <a:latin typeface="Calibri"/>
                <a:cs typeface="Calibri"/>
              </a:rPr>
              <a:t>2.INTRODUCTION</a:t>
            </a:r>
            <a:endParaRPr sz="1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50">
                <a:latin typeface="Calibri"/>
                <a:cs typeface="Calibri"/>
              </a:rPr>
              <a:t>3.MODULE</a:t>
            </a:r>
            <a:r>
              <a:rPr dirty="0" sz="1850" spc="140">
                <a:latin typeface="Calibri"/>
                <a:cs typeface="Calibri"/>
              </a:rPr>
              <a:t> </a:t>
            </a:r>
            <a:r>
              <a:rPr dirty="0" sz="1850" spc="-50">
                <a:latin typeface="Calibri"/>
                <a:cs typeface="Calibri"/>
              </a:rPr>
              <a:t>1</a:t>
            </a:r>
            <a:endParaRPr sz="1850">
              <a:latin typeface="Calibri"/>
              <a:cs typeface="Calibri"/>
            </a:endParaRPr>
          </a:p>
          <a:p>
            <a:pPr marL="565150" indent="-55245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565150" algn="l"/>
              </a:tabLst>
            </a:pPr>
            <a:r>
              <a:rPr dirty="0" sz="1850">
                <a:latin typeface="Calibri"/>
                <a:cs typeface="Calibri"/>
              </a:rPr>
              <a:t>3.1</a:t>
            </a:r>
            <a:r>
              <a:rPr dirty="0" sz="1850" spc="65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FLOW</a:t>
            </a:r>
            <a:r>
              <a:rPr dirty="0" sz="1850" spc="20">
                <a:latin typeface="Calibri"/>
                <a:cs typeface="Calibri"/>
              </a:rPr>
              <a:t> </a:t>
            </a:r>
            <a:r>
              <a:rPr dirty="0" sz="1850" spc="-20">
                <a:latin typeface="Calibri"/>
                <a:cs typeface="Calibri"/>
              </a:rPr>
              <a:t>CHART</a:t>
            </a:r>
            <a:endParaRPr sz="1850">
              <a:latin typeface="Calibri"/>
              <a:cs typeface="Calibri"/>
            </a:endParaRPr>
          </a:p>
          <a:p>
            <a:pPr marL="565150" indent="-55245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565150" algn="l"/>
              </a:tabLst>
            </a:pPr>
            <a:r>
              <a:rPr dirty="0" sz="1850">
                <a:latin typeface="Calibri"/>
                <a:cs typeface="Calibri"/>
              </a:rPr>
              <a:t>3.2</a:t>
            </a:r>
            <a:r>
              <a:rPr dirty="0" sz="1850" spc="15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OUTPUT</a:t>
            </a:r>
            <a:r>
              <a:rPr dirty="0" sz="1850" spc="11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OF</a:t>
            </a:r>
            <a:r>
              <a:rPr dirty="0" sz="1850" spc="8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MODULE</a:t>
            </a:r>
            <a:r>
              <a:rPr dirty="0" sz="1850" spc="100">
                <a:latin typeface="Calibri"/>
                <a:cs typeface="Calibri"/>
              </a:rPr>
              <a:t> </a:t>
            </a:r>
            <a:r>
              <a:rPr dirty="0" sz="1850" spc="-50">
                <a:latin typeface="Calibri"/>
                <a:cs typeface="Calibri"/>
              </a:rPr>
              <a:t>1</a:t>
            </a:r>
            <a:endParaRPr sz="1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50">
                <a:latin typeface="Calibri"/>
                <a:cs typeface="Calibri"/>
              </a:rPr>
              <a:t>4.MODULE</a:t>
            </a:r>
            <a:r>
              <a:rPr dirty="0" sz="1850" spc="140">
                <a:latin typeface="Calibri"/>
                <a:cs typeface="Calibri"/>
              </a:rPr>
              <a:t> </a:t>
            </a:r>
            <a:r>
              <a:rPr dirty="0" sz="1850" spc="-50">
                <a:latin typeface="Calibri"/>
                <a:cs typeface="Calibri"/>
              </a:rPr>
              <a:t>2</a:t>
            </a:r>
            <a:endParaRPr sz="1850">
              <a:latin typeface="Calibri"/>
              <a:cs typeface="Calibri"/>
            </a:endParaRPr>
          </a:p>
          <a:p>
            <a:pPr marL="511175" indent="-498475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511175" algn="l"/>
              </a:tabLst>
            </a:pPr>
            <a:r>
              <a:rPr dirty="0" sz="1850">
                <a:latin typeface="Calibri"/>
                <a:cs typeface="Calibri"/>
              </a:rPr>
              <a:t>4.1</a:t>
            </a:r>
            <a:r>
              <a:rPr dirty="0" sz="1850" spc="65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FLOW</a:t>
            </a:r>
            <a:r>
              <a:rPr dirty="0" sz="1850" spc="20">
                <a:latin typeface="Calibri"/>
                <a:cs typeface="Calibri"/>
              </a:rPr>
              <a:t> </a:t>
            </a:r>
            <a:r>
              <a:rPr dirty="0" sz="1850" spc="-20">
                <a:latin typeface="Calibri"/>
                <a:cs typeface="Calibri"/>
              </a:rPr>
              <a:t>CHART</a:t>
            </a:r>
            <a:endParaRPr sz="1850">
              <a:latin typeface="Calibri"/>
              <a:cs typeface="Calibri"/>
            </a:endParaRPr>
          </a:p>
          <a:p>
            <a:pPr marL="511175" indent="-49847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511175" algn="l"/>
              </a:tabLst>
            </a:pPr>
            <a:r>
              <a:rPr dirty="0" sz="1850">
                <a:latin typeface="Calibri"/>
                <a:cs typeface="Calibri"/>
              </a:rPr>
              <a:t>4.2</a:t>
            </a:r>
            <a:r>
              <a:rPr dirty="0" sz="1850" spc="15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OUTPUT</a:t>
            </a:r>
            <a:r>
              <a:rPr dirty="0" sz="1850" spc="105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OF</a:t>
            </a:r>
            <a:r>
              <a:rPr dirty="0" sz="1850" spc="8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MODULE</a:t>
            </a:r>
            <a:r>
              <a:rPr dirty="0" sz="1850" spc="100">
                <a:latin typeface="Calibri"/>
                <a:cs typeface="Calibri"/>
              </a:rPr>
              <a:t> </a:t>
            </a:r>
            <a:r>
              <a:rPr dirty="0" sz="1850" spc="-50">
                <a:latin typeface="Calibri"/>
                <a:cs typeface="Calibri"/>
              </a:rPr>
              <a:t>2</a:t>
            </a:r>
            <a:endParaRPr sz="1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50">
                <a:latin typeface="Calibri"/>
                <a:cs typeface="Calibri"/>
              </a:rPr>
              <a:t>5.MODULE</a:t>
            </a:r>
            <a:r>
              <a:rPr dirty="0" sz="1850" spc="140">
                <a:latin typeface="Calibri"/>
                <a:cs typeface="Calibri"/>
              </a:rPr>
              <a:t> </a:t>
            </a:r>
            <a:r>
              <a:rPr dirty="0" sz="1850" spc="-50">
                <a:latin typeface="Calibri"/>
                <a:cs typeface="Calibri"/>
              </a:rPr>
              <a:t>3</a:t>
            </a:r>
            <a:endParaRPr sz="1850">
              <a:latin typeface="Calibri"/>
              <a:cs typeface="Calibri"/>
            </a:endParaRPr>
          </a:p>
          <a:p>
            <a:pPr marL="511175" indent="-49847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511175" algn="l"/>
              </a:tabLst>
            </a:pPr>
            <a:r>
              <a:rPr dirty="0" sz="1850">
                <a:latin typeface="Calibri"/>
                <a:cs typeface="Calibri"/>
              </a:rPr>
              <a:t>5.1</a:t>
            </a:r>
            <a:r>
              <a:rPr dirty="0" sz="1850" spc="55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FLOW</a:t>
            </a:r>
            <a:r>
              <a:rPr dirty="0" sz="1850" spc="10">
                <a:latin typeface="Calibri"/>
                <a:cs typeface="Calibri"/>
              </a:rPr>
              <a:t> </a:t>
            </a:r>
            <a:r>
              <a:rPr dirty="0" sz="1850" spc="-20">
                <a:latin typeface="Calibri"/>
                <a:cs typeface="Calibri"/>
              </a:rPr>
              <a:t>CHART</a:t>
            </a:r>
            <a:endParaRPr sz="1850">
              <a:latin typeface="Calibri"/>
              <a:cs typeface="Calibri"/>
            </a:endParaRPr>
          </a:p>
          <a:p>
            <a:pPr marL="511175" indent="-49847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511175" algn="l"/>
              </a:tabLst>
            </a:pPr>
            <a:r>
              <a:rPr dirty="0" sz="1850">
                <a:latin typeface="Calibri"/>
                <a:cs typeface="Calibri"/>
              </a:rPr>
              <a:t>5.2</a:t>
            </a:r>
            <a:r>
              <a:rPr dirty="0" sz="1850" spc="15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OUTPUT</a:t>
            </a:r>
            <a:r>
              <a:rPr dirty="0" sz="1850" spc="105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OF</a:t>
            </a:r>
            <a:r>
              <a:rPr dirty="0" sz="1850" spc="80">
                <a:latin typeface="Calibri"/>
                <a:cs typeface="Calibri"/>
              </a:rPr>
              <a:t> </a:t>
            </a:r>
            <a:r>
              <a:rPr dirty="0" sz="1850">
                <a:latin typeface="Calibri"/>
                <a:cs typeface="Calibri"/>
              </a:rPr>
              <a:t>MODULE</a:t>
            </a:r>
            <a:r>
              <a:rPr dirty="0" sz="1850" spc="100">
                <a:latin typeface="Calibri"/>
                <a:cs typeface="Calibri"/>
              </a:rPr>
              <a:t> </a:t>
            </a:r>
            <a:r>
              <a:rPr dirty="0" sz="1850" spc="-50">
                <a:latin typeface="Calibri"/>
                <a:cs typeface="Calibri"/>
              </a:rPr>
              <a:t>3</a:t>
            </a:r>
            <a:endParaRPr sz="1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50" spc="-10">
                <a:latin typeface="Calibri"/>
                <a:cs typeface="Calibri"/>
              </a:rPr>
              <a:t>6.CONCLUSION</a:t>
            </a:r>
            <a:endParaRPr sz="1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50">
                <a:latin typeface="Calibri"/>
                <a:cs typeface="Calibri"/>
              </a:rPr>
              <a:t>7.FUTURE</a:t>
            </a:r>
            <a:r>
              <a:rPr dirty="0" sz="1850" spc="175">
                <a:latin typeface="Calibri"/>
                <a:cs typeface="Calibri"/>
              </a:rPr>
              <a:t> </a:t>
            </a:r>
            <a:r>
              <a:rPr dirty="0" sz="1850" spc="-20">
                <a:latin typeface="Calibri"/>
                <a:cs typeface="Calibri"/>
              </a:rPr>
              <a:t>SCOPE</a:t>
            </a:r>
            <a:endParaRPr sz="18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50" spc="-10">
                <a:latin typeface="Calibri"/>
                <a:cs typeface="Calibri"/>
              </a:rPr>
              <a:t>8.REFERENCE</a:t>
            </a:r>
            <a:endParaRPr sz="1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891" y="808242"/>
            <a:ext cx="2330027" cy="40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575" y="609282"/>
            <a:ext cx="2337435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ABSTRACT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81355" y="1557972"/>
            <a:ext cx="10333355" cy="4455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ts val="275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10">
                <a:latin typeface="Calibri"/>
                <a:cs typeface="Calibri"/>
              </a:rPr>
              <a:t>Wi-</a:t>
            </a:r>
            <a:r>
              <a:rPr dirty="0" sz="2400">
                <a:latin typeface="Calibri"/>
                <a:cs typeface="Calibri"/>
              </a:rPr>
              <a:t>Fi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802.11ax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(Wi-</a:t>
            </a:r>
            <a:r>
              <a:rPr dirty="0" sz="2400">
                <a:latin typeface="Calibri"/>
                <a:cs typeface="Calibri"/>
              </a:rPr>
              <a:t>Fi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6)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improves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network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efficiency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advanced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features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like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55"/>
              </a:lnSpc>
            </a:pPr>
            <a:r>
              <a:rPr dirty="0" sz="2400">
                <a:latin typeface="Calibri"/>
                <a:cs typeface="Calibri"/>
              </a:rPr>
              <a:t>OFDMA,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MU-</a:t>
            </a:r>
            <a:r>
              <a:rPr dirty="0" sz="2400">
                <a:latin typeface="Calibri"/>
                <a:cs typeface="Calibri"/>
              </a:rPr>
              <a:t>MIMO,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BSS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Coloring,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TWT.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55"/>
              </a:lnSpc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Ensures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high-</a:t>
            </a:r>
            <a:r>
              <a:rPr dirty="0" sz="2400" spc="-10">
                <a:latin typeface="Calibri"/>
                <a:cs typeface="Calibri"/>
              </a:rPr>
              <a:t>performance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connectivity in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dense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environments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campuses,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55"/>
              </a:lnSpc>
            </a:pPr>
            <a:r>
              <a:rPr dirty="0" sz="2400">
                <a:latin typeface="Calibri"/>
                <a:cs typeface="Calibri"/>
              </a:rPr>
              <a:t>offices,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public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areas.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15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Covers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setup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process,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including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access-</a:t>
            </a:r>
            <a:r>
              <a:rPr dirty="0" sz="2400">
                <a:latin typeface="Calibri"/>
                <a:cs typeface="Calibri"/>
              </a:rPr>
              <a:t>point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placement,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channel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planning,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15"/>
              </a:lnSpc>
            </a:pP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secure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network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configuration.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55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Focuses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performance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optimization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techniques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like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transmit-</a:t>
            </a:r>
            <a:r>
              <a:rPr dirty="0" sz="2400">
                <a:latin typeface="Calibri"/>
                <a:cs typeface="Calibri"/>
              </a:rPr>
              <a:t>power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control,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55"/>
              </a:lnSpc>
            </a:pPr>
            <a:r>
              <a:rPr dirty="0" sz="2400">
                <a:latin typeface="Calibri"/>
                <a:cs typeface="Calibri"/>
              </a:rPr>
              <a:t>band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steering,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QoS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policies.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7330" y="532090"/>
            <a:ext cx="2730039" cy="4269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2629" y="351536"/>
            <a:ext cx="2813685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Introduction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81417" y="1429067"/>
            <a:ext cx="5507990" cy="419735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39395" marR="550545" indent="-227329">
              <a:lnSpc>
                <a:spcPct val="89900"/>
              </a:lnSpc>
              <a:spcBef>
                <a:spcPts val="3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WiFi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6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(802.11ax)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latest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wireless 	standard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designed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efficiency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performance.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55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introduces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advanced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features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like</a:t>
            </a:r>
            <a:endParaRPr sz="2400">
              <a:latin typeface="Calibri"/>
              <a:cs typeface="Calibri"/>
            </a:endParaRPr>
          </a:p>
          <a:p>
            <a:pPr marL="240665">
              <a:lnSpc>
                <a:spcPts val="2755"/>
              </a:lnSpc>
            </a:pPr>
            <a:r>
              <a:rPr dirty="0" sz="2400">
                <a:latin typeface="Calibri"/>
                <a:cs typeface="Calibri"/>
              </a:rPr>
              <a:t>OFDMA,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MU-</a:t>
            </a:r>
            <a:r>
              <a:rPr dirty="0" sz="2400">
                <a:latin typeface="Calibri"/>
                <a:cs typeface="Calibri"/>
              </a:rPr>
              <a:t>MIMO,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BSS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Coloring.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15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WiFi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6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supports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dense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environments</a:t>
            </a:r>
            <a:endParaRPr sz="2400">
              <a:latin typeface="Calibri"/>
              <a:cs typeface="Calibri"/>
            </a:endParaRPr>
          </a:p>
          <a:p>
            <a:pPr marL="240665">
              <a:lnSpc>
                <a:spcPts val="2715"/>
              </a:lnSpc>
            </a:pP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improved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reduced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latency.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55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optimized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channel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usage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increases</a:t>
            </a:r>
            <a:endParaRPr sz="2400">
              <a:latin typeface="Calibri"/>
              <a:cs typeface="Calibri"/>
            </a:endParaRPr>
          </a:p>
          <a:p>
            <a:pPr marL="240665">
              <a:lnSpc>
                <a:spcPts val="2755"/>
              </a:lnSpc>
            </a:pPr>
            <a:r>
              <a:rPr dirty="0" sz="2400">
                <a:latin typeface="Calibri"/>
                <a:cs typeface="Calibri"/>
              </a:rPr>
              <a:t>reliability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network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stability.</a:t>
            </a:r>
            <a:endParaRPr sz="2400">
              <a:latin typeface="Calibri"/>
              <a:cs typeface="Calibri"/>
            </a:endParaRPr>
          </a:p>
          <a:p>
            <a:pPr marL="239395" marR="183515" indent="-227329">
              <a:lnSpc>
                <a:spcPts val="2550"/>
              </a:lnSpc>
              <a:spcBef>
                <a:spcPts val="10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project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focuses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setup,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evaluation,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optimization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WiFi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6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networks.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62850" y="1752600"/>
            <a:ext cx="2809875" cy="2809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47775" y="665459"/>
            <a:ext cx="7491730" cy="1120775"/>
            <a:chOff x="1247775" y="665459"/>
            <a:chExt cx="7491730" cy="11207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2873" y="665459"/>
              <a:ext cx="7196599" cy="38851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7775" y="866711"/>
              <a:ext cx="4443476" cy="91916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10030" y="535940"/>
            <a:ext cx="7229475" cy="956944"/>
          </a:xfrm>
          <a:prstGeom prst="rect"/>
        </p:spPr>
        <p:txBody>
          <a:bodyPr wrap="square" lIns="0" tIns="72390" rIns="0" bIns="0" rtlCol="0" vert="horz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570"/>
              </a:spcBef>
            </a:pPr>
            <a:r>
              <a:rPr dirty="0" sz="3200"/>
              <a:t>Module</a:t>
            </a:r>
            <a:r>
              <a:rPr dirty="0" sz="3200" spc="-65"/>
              <a:t> </a:t>
            </a:r>
            <a:r>
              <a:rPr dirty="0" sz="3200"/>
              <a:t>1:</a:t>
            </a:r>
            <a:r>
              <a:rPr dirty="0" sz="3200" spc="-65"/>
              <a:t> </a:t>
            </a:r>
            <a:r>
              <a:rPr dirty="0" sz="3200"/>
              <a:t>WiFi</a:t>
            </a:r>
            <a:r>
              <a:rPr dirty="0" sz="3200" spc="-10"/>
              <a:t> </a:t>
            </a:r>
            <a:r>
              <a:rPr dirty="0" sz="3200"/>
              <a:t>6</a:t>
            </a:r>
            <a:r>
              <a:rPr dirty="0" sz="3200" spc="-95"/>
              <a:t> </a:t>
            </a:r>
            <a:r>
              <a:rPr dirty="0" sz="3200"/>
              <a:t>Setup</a:t>
            </a:r>
            <a:r>
              <a:rPr dirty="0" sz="3200" spc="-65"/>
              <a:t> </a:t>
            </a:r>
            <a:r>
              <a:rPr dirty="0" sz="3200"/>
              <a:t>and</a:t>
            </a:r>
            <a:r>
              <a:rPr dirty="0" sz="3200" spc="-65"/>
              <a:t> </a:t>
            </a:r>
            <a:r>
              <a:rPr dirty="0" sz="3200" spc="-10"/>
              <a:t>Configuration</a:t>
            </a:r>
            <a:r>
              <a:rPr dirty="0" sz="3200" spc="-65"/>
              <a:t> </a:t>
            </a:r>
            <a:r>
              <a:rPr dirty="0" sz="3200" spc="-50"/>
              <a:t>&amp; </a:t>
            </a:r>
            <a:r>
              <a:rPr dirty="0" sz="3200" spc="-10"/>
              <a:t>Performance</a:t>
            </a:r>
            <a:r>
              <a:rPr dirty="0" sz="3200" spc="-135"/>
              <a:t> </a:t>
            </a:r>
            <a:r>
              <a:rPr dirty="0" sz="3200" spc="-10"/>
              <a:t>Evaluation</a:t>
            </a:r>
            <a:endParaRPr sz="3200"/>
          </a:p>
        </p:txBody>
      </p:sp>
      <p:sp>
        <p:nvSpPr>
          <p:cNvPr id="6" name="object 6" descr=""/>
          <p:cNvSpPr txBox="1"/>
          <p:nvPr/>
        </p:nvSpPr>
        <p:spPr>
          <a:xfrm>
            <a:off x="1382013" y="2358072"/>
            <a:ext cx="5170170" cy="294830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just" marL="240029" marR="403860" indent="-227329">
              <a:lnSpc>
                <a:spcPct val="9000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10">
                <a:latin typeface="Calibri"/>
                <a:cs typeface="Calibri"/>
              </a:rPr>
              <a:t>Performed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complete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installation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configuration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WiFi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6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access </a:t>
            </a:r>
            <a:r>
              <a:rPr dirty="0" sz="2400" spc="-10">
                <a:latin typeface="Calibri"/>
                <a:cs typeface="Calibri"/>
              </a:rPr>
              <a:t>points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controllers.</a:t>
            </a:r>
            <a:endParaRPr sz="2400">
              <a:latin typeface="Calibri"/>
              <a:cs typeface="Calibri"/>
            </a:endParaRPr>
          </a:p>
          <a:p>
            <a:pPr marL="240029" marR="68580" indent="-227329">
              <a:lnSpc>
                <a:spcPts val="2550"/>
              </a:lnSpc>
              <a:spcBef>
                <a:spcPts val="10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10">
                <a:latin typeface="Calibri"/>
                <a:cs typeface="Calibri"/>
              </a:rPr>
              <a:t>Evaluated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throughput,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latency,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coverage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structured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testing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tools.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Optimized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network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performance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using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channel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tuning,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power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control,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QoS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settings.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56612" y="2447210"/>
            <a:ext cx="2135138" cy="21628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0976" y="360541"/>
            <a:ext cx="5558454" cy="4080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33904" y="156463"/>
            <a:ext cx="5594350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MODULE</a:t>
            </a:r>
            <a:r>
              <a:rPr dirty="0" spc="-60"/>
              <a:t> </a:t>
            </a:r>
            <a:r>
              <a:rPr dirty="0"/>
              <a:t>1:</a:t>
            </a:r>
            <a:r>
              <a:rPr dirty="0" spc="-25"/>
              <a:t> </a:t>
            </a:r>
            <a:r>
              <a:rPr dirty="0" spc="-10"/>
              <a:t>FLOWCHART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2792" y="1574595"/>
            <a:ext cx="3732330" cy="45976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0850" y="-253377"/>
            <a:ext cx="8543925" cy="2471420"/>
          </a:xfrm>
          <a:prstGeom prst="rect"/>
        </p:spPr>
        <p:txBody>
          <a:bodyPr wrap="square" lIns="0" tIns="215900" rIns="0" bIns="0" rtlCol="0" vert="horz">
            <a:spAutoFit/>
          </a:bodyPr>
          <a:lstStyle/>
          <a:p>
            <a:pPr algn="ctr" marL="1019175">
              <a:lnSpc>
                <a:spcPct val="100000"/>
              </a:lnSpc>
              <a:spcBef>
                <a:spcPts val="1700"/>
              </a:spcBef>
            </a:pPr>
            <a:r>
              <a:rPr dirty="0"/>
              <a:t>MODULE</a:t>
            </a:r>
            <a:r>
              <a:rPr dirty="0" spc="-55"/>
              <a:t> </a:t>
            </a:r>
            <a:r>
              <a:rPr dirty="0"/>
              <a:t>1</a:t>
            </a:r>
            <a:r>
              <a:rPr dirty="0" spc="-50"/>
              <a:t> </a:t>
            </a:r>
            <a:r>
              <a:rPr dirty="0"/>
              <a:t>:</a:t>
            </a:r>
            <a:r>
              <a:rPr dirty="0" spc="-30"/>
              <a:t> </a:t>
            </a:r>
            <a:r>
              <a:rPr dirty="0" spc="-10"/>
              <a:t>OUTPUT</a:t>
            </a:r>
          </a:p>
          <a:p>
            <a:pPr marL="12700" marR="5080">
              <a:lnSpc>
                <a:spcPct val="100000"/>
              </a:lnSpc>
              <a:spcBef>
                <a:spcPts val="860"/>
              </a:spcBef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WiFi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6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test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environment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successfully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deployed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configured, </a:t>
            </a:r>
            <a:r>
              <a:rPr dirty="0" sz="2400">
                <a:latin typeface="Calibri"/>
                <a:cs typeface="Calibri"/>
              </a:rPr>
              <a:t>showing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improved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throughput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(up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40–60%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over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WiFi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5),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reduced </a:t>
            </a:r>
            <a:r>
              <a:rPr dirty="0" sz="2400">
                <a:latin typeface="Calibri"/>
                <a:cs typeface="Calibri"/>
              </a:rPr>
              <a:t>latency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during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multi-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operations,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stable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performance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even </a:t>
            </a:r>
            <a:r>
              <a:rPr dirty="0" sz="2400">
                <a:latin typeface="Calibri"/>
                <a:cs typeface="Calibri"/>
              </a:rPr>
              <a:t>under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heavy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concurrent</a:t>
            </a:r>
            <a:r>
              <a:rPr dirty="0" sz="2400" spc="-11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device </a:t>
            </a:r>
            <a:r>
              <a:rPr dirty="0" sz="2400" spc="-10">
                <a:latin typeface="Calibri"/>
                <a:cs typeface="Calibri"/>
              </a:rPr>
              <a:t>load.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1650" y="2419350"/>
            <a:ext cx="813435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7129" y="541638"/>
            <a:ext cx="7568056" cy="36028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12239" y="400049"/>
            <a:ext cx="763270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/>
              <a:t>Module</a:t>
            </a:r>
            <a:r>
              <a:rPr dirty="0" sz="3600" spc="-50"/>
              <a:t> </a:t>
            </a:r>
            <a:r>
              <a:rPr dirty="0" sz="3600"/>
              <a:t>2:</a:t>
            </a:r>
            <a:r>
              <a:rPr dirty="0" sz="3600" spc="-45"/>
              <a:t> </a:t>
            </a:r>
            <a:r>
              <a:rPr dirty="0" sz="3600"/>
              <a:t>WiFi</a:t>
            </a:r>
            <a:r>
              <a:rPr dirty="0" sz="3600" spc="-110"/>
              <a:t> </a:t>
            </a:r>
            <a:r>
              <a:rPr dirty="0" sz="3600"/>
              <a:t>6</a:t>
            </a:r>
            <a:r>
              <a:rPr dirty="0" sz="3600" spc="-75"/>
              <a:t> </a:t>
            </a:r>
            <a:r>
              <a:rPr dirty="0" sz="3600" spc="-10"/>
              <a:t>Performance</a:t>
            </a:r>
            <a:r>
              <a:rPr dirty="0" sz="3600" spc="-50"/>
              <a:t> </a:t>
            </a:r>
            <a:r>
              <a:rPr dirty="0" sz="3600" spc="-10"/>
              <a:t>Evaluation</a:t>
            </a:r>
            <a:endParaRPr sz="3600"/>
          </a:p>
        </p:txBody>
      </p:sp>
      <p:sp>
        <p:nvSpPr>
          <p:cNvPr id="4" name="object 4" descr=""/>
          <p:cNvSpPr txBox="1"/>
          <p:nvPr/>
        </p:nvSpPr>
        <p:spPr>
          <a:xfrm>
            <a:off x="1184592" y="1677098"/>
            <a:ext cx="5690870" cy="312928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239395" marR="85090" indent="-227329">
              <a:lnSpc>
                <a:spcPts val="2550"/>
              </a:lnSpc>
              <a:spcBef>
                <a:spcPts val="459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 spc="-10">
                <a:latin typeface="Calibri"/>
                <a:cs typeface="Calibri"/>
              </a:rPr>
              <a:t>Conducted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detailed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performance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benchmarking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under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multi-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conditions.</a:t>
            </a:r>
            <a:endParaRPr sz="2400">
              <a:latin typeface="Calibri"/>
              <a:cs typeface="Calibri"/>
            </a:endParaRPr>
          </a:p>
          <a:p>
            <a:pPr marL="239395" marR="5080" indent="-227329">
              <a:lnSpc>
                <a:spcPts val="263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Measured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speed,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coverage,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packet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loss,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latency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metrics.</a:t>
            </a:r>
            <a:endParaRPr sz="2400">
              <a:latin typeface="Calibri"/>
              <a:cs typeface="Calibri"/>
            </a:endParaRPr>
          </a:p>
          <a:p>
            <a:pPr marL="239395" marR="442595" indent="-227329">
              <a:lnSpc>
                <a:spcPts val="2550"/>
              </a:lnSpc>
              <a:spcBef>
                <a:spcPts val="10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 spc="-10">
                <a:latin typeface="Calibri"/>
                <a:cs typeface="Calibri"/>
              </a:rPr>
              <a:t>Analyzed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results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against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expected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WiFi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6 </a:t>
            </a:r>
            <a:r>
              <a:rPr dirty="0" sz="2400" spc="-5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capabilities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validation.</a:t>
            </a:r>
            <a:endParaRPr sz="2400">
              <a:latin typeface="Calibri"/>
              <a:cs typeface="Calibri"/>
            </a:endParaRPr>
          </a:p>
          <a:p>
            <a:pPr marL="239395" marR="530860" indent="-227329">
              <a:lnSpc>
                <a:spcPts val="2930"/>
              </a:lnSpc>
              <a:spcBef>
                <a:spcPts val="75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Identified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performance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bottlenecks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applied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corrective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optimizations</a:t>
            </a:r>
            <a:r>
              <a:rPr dirty="0" sz="2750" spc="-10">
                <a:latin typeface="Calibri"/>
                <a:cs typeface="Calibri"/>
              </a:rPr>
              <a:t>.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91550" y="1600200"/>
            <a:ext cx="2962275" cy="3448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017725" y="0"/>
            <a:ext cx="5902960" cy="1081405"/>
            <a:chOff x="2017725" y="0"/>
            <a:chExt cx="5902960" cy="108140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7725" y="197404"/>
              <a:ext cx="417450" cy="40420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85975" y="0"/>
              <a:ext cx="5834126" cy="108102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MODULE</a:t>
            </a:r>
            <a:r>
              <a:rPr dirty="0" spc="-35"/>
              <a:t> </a:t>
            </a:r>
            <a:r>
              <a:rPr dirty="0"/>
              <a:t>2:</a:t>
            </a:r>
            <a:r>
              <a:rPr dirty="0" spc="-75"/>
              <a:t> </a:t>
            </a:r>
            <a:r>
              <a:rPr dirty="0" spc="-10"/>
              <a:t>FLOWCHART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5125" y="866775"/>
            <a:ext cx="6200775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674" y="197404"/>
            <a:ext cx="4606060" cy="40420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30"/>
              </a:spcBef>
            </a:pPr>
            <a:r>
              <a:rPr dirty="0"/>
              <a:t>MODULE</a:t>
            </a:r>
            <a:r>
              <a:rPr dirty="0" spc="-55"/>
              <a:t> </a:t>
            </a:r>
            <a:r>
              <a:rPr dirty="0"/>
              <a:t>2:</a:t>
            </a:r>
            <a:r>
              <a:rPr dirty="0" spc="-25"/>
              <a:t> </a:t>
            </a:r>
            <a:r>
              <a:rPr dirty="0" spc="-10"/>
              <a:t>OUTPUT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878964" y="837628"/>
            <a:ext cx="8205470" cy="22231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02895">
              <a:lnSpc>
                <a:spcPct val="100400"/>
              </a:lnSpc>
              <a:spcBef>
                <a:spcPts val="90"/>
              </a:spcBef>
              <a:buAutoNum type="arabicPeriod"/>
              <a:tabLst>
                <a:tab pos="315595" algn="l"/>
              </a:tabLst>
            </a:pPr>
            <a:r>
              <a:rPr dirty="0" sz="2400" b="1">
                <a:latin typeface="Calibri"/>
                <a:cs typeface="Calibri"/>
              </a:rPr>
              <a:t>The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Wi-Fi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6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performance</a:t>
            </a:r>
            <a:r>
              <a:rPr dirty="0" sz="2400" spc="-10" b="1">
                <a:latin typeface="Calibri"/>
                <a:cs typeface="Calibri"/>
              </a:rPr>
              <a:t> test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demonstrated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exceptionally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high </a:t>
            </a:r>
            <a:r>
              <a:rPr dirty="0" sz="2400" b="1">
                <a:latin typeface="Calibri"/>
                <a:cs typeface="Calibri"/>
              </a:rPr>
              <a:t>throughput,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achieving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stable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speeds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above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1</a:t>
            </a:r>
            <a:r>
              <a:rPr dirty="0" sz="2400" spc="-9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Gbps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under </a:t>
            </a:r>
            <a:r>
              <a:rPr dirty="0" sz="2400" b="1">
                <a:latin typeface="Calibri"/>
                <a:cs typeface="Calibri"/>
              </a:rPr>
              <a:t>controlled</a:t>
            </a:r>
            <a:r>
              <a:rPr dirty="0" sz="2400" spc="-13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conditions.</a:t>
            </a:r>
            <a:endParaRPr sz="2400">
              <a:latin typeface="Calibri"/>
              <a:cs typeface="Calibri"/>
            </a:endParaRPr>
          </a:p>
          <a:p>
            <a:pPr marL="315595" indent="-302895">
              <a:lnSpc>
                <a:spcPts val="2855"/>
              </a:lnSpc>
              <a:buAutoNum type="arabicPeriod"/>
              <a:tabLst>
                <a:tab pos="315595" algn="l"/>
              </a:tabLst>
            </a:pPr>
            <a:r>
              <a:rPr dirty="0" sz="2400" b="1">
                <a:latin typeface="Calibri"/>
                <a:cs typeface="Calibri"/>
              </a:rPr>
              <a:t>Latency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measurements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remained</a:t>
            </a:r>
            <a:r>
              <a:rPr dirty="0" sz="2400" spc="-9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consistently</a:t>
            </a:r>
            <a:r>
              <a:rPr dirty="0" sz="2400" spc="-95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low,</a:t>
            </a:r>
            <a:r>
              <a:rPr dirty="0" sz="2400" spc="-10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confirming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  <a:spcBef>
                <a:spcPts val="45"/>
              </a:spcBef>
            </a:pPr>
            <a:r>
              <a:rPr dirty="0" sz="2400" b="1">
                <a:latin typeface="Calibri"/>
                <a:cs typeface="Calibri"/>
              </a:rPr>
              <a:t>the</a:t>
            </a:r>
            <a:r>
              <a:rPr dirty="0" sz="2400" spc="20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protocol’s </a:t>
            </a:r>
            <a:r>
              <a:rPr dirty="0" sz="2400" spc="-10" b="1">
                <a:latin typeface="Calibri"/>
                <a:cs typeface="Calibri"/>
              </a:rPr>
              <a:t>efficiency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in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handling</a:t>
            </a:r>
            <a:r>
              <a:rPr dirty="0" sz="2400" spc="2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real-</a:t>
            </a:r>
            <a:r>
              <a:rPr dirty="0" sz="2400" b="1">
                <a:latin typeface="Calibri"/>
                <a:cs typeface="Calibri"/>
              </a:rPr>
              <a:t>time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20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high-</a:t>
            </a:r>
            <a:r>
              <a:rPr dirty="0" sz="2400" spc="-10" b="1">
                <a:latin typeface="Calibri"/>
                <a:cs typeface="Calibri"/>
              </a:rPr>
              <a:t>demand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70"/>
              </a:lnSpc>
            </a:pPr>
            <a:r>
              <a:rPr dirty="0" sz="2400" spc="-10" b="1">
                <a:latin typeface="Calibri"/>
                <a:cs typeface="Calibri"/>
              </a:rPr>
              <a:t>applications.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8825" y="3133725"/>
            <a:ext cx="8553450" cy="37242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256" y="817819"/>
            <a:ext cx="7434697" cy="42665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74444" y="667638"/>
            <a:ext cx="7474584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/>
              <a:t>Module</a:t>
            </a:r>
            <a:r>
              <a:rPr dirty="0" sz="3600" spc="-50"/>
              <a:t> </a:t>
            </a:r>
            <a:r>
              <a:rPr dirty="0" sz="3600"/>
              <a:t>3:</a:t>
            </a:r>
            <a:r>
              <a:rPr dirty="0" sz="3600" spc="-40"/>
              <a:t> </a:t>
            </a:r>
            <a:r>
              <a:rPr dirty="0" sz="3600"/>
              <a:t>WiFi</a:t>
            </a:r>
            <a:r>
              <a:rPr dirty="0" sz="3600" spc="-110"/>
              <a:t> </a:t>
            </a:r>
            <a:r>
              <a:rPr dirty="0" sz="3600"/>
              <a:t>6</a:t>
            </a:r>
            <a:r>
              <a:rPr dirty="0" sz="3600" spc="-75"/>
              <a:t> </a:t>
            </a:r>
            <a:r>
              <a:rPr dirty="0" sz="3600" spc="-10"/>
              <a:t>Interoperability</a:t>
            </a:r>
            <a:r>
              <a:rPr dirty="0" sz="3600" spc="-70"/>
              <a:t> </a:t>
            </a:r>
            <a:r>
              <a:rPr dirty="0" sz="3600" spc="-10"/>
              <a:t>Testing</a:t>
            </a:r>
            <a:endParaRPr sz="3600"/>
          </a:p>
        </p:txBody>
      </p:sp>
      <p:sp>
        <p:nvSpPr>
          <p:cNvPr id="4" name="object 4" descr=""/>
          <p:cNvSpPr txBox="1"/>
          <p:nvPr/>
        </p:nvSpPr>
        <p:spPr>
          <a:xfrm>
            <a:off x="1102042" y="1823338"/>
            <a:ext cx="5124450" cy="26720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029" indent="-227329">
              <a:lnSpc>
                <a:spcPts val="2720"/>
              </a:lnSpc>
              <a:spcBef>
                <a:spcPts val="1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40">
                <a:latin typeface="Calibri"/>
                <a:cs typeface="Calibri"/>
              </a:rPr>
              <a:t>Tested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WiFi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6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with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multiple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device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20"/>
              </a:lnSpc>
            </a:pPr>
            <a:r>
              <a:rPr dirty="0" sz="2400">
                <a:latin typeface="Calibri"/>
                <a:cs typeface="Calibri"/>
              </a:rPr>
              <a:t>types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ensure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compatibility.</a:t>
            </a:r>
            <a:endParaRPr sz="2400">
              <a:latin typeface="Calibri"/>
              <a:cs typeface="Calibri"/>
            </a:endParaRPr>
          </a:p>
          <a:p>
            <a:pPr marL="239395" marR="5080" indent="-227329">
              <a:lnSpc>
                <a:spcPts val="263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10">
                <a:latin typeface="Calibri"/>
                <a:cs typeface="Calibri"/>
              </a:rPr>
              <a:t>Checked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cross-</a:t>
            </a:r>
            <a:r>
              <a:rPr dirty="0" sz="2400">
                <a:latin typeface="Calibri"/>
                <a:cs typeface="Calibri"/>
              </a:rPr>
              <a:t>vendor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functionality</a:t>
            </a:r>
            <a:r>
              <a:rPr dirty="0" sz="2400" spc="-25">
                <a:latin typeface="Calibri"/>
                <a:cs typeface="Calibri"/>
              </a:rPr>
              <a:t> 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seamless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roaming.</a:t>
            </a:r>
            <a:endParaRPr sz="2400">
              <a:latin typeface="Calibri"/>
              <a:cs typeface="Calibri"/>
            </a:endParaRPr>
          </a:p>
          <a:p>
            <a:pPr marL="239395" marR="72390" indent="-227329">
              <a:lnSpc>
                <a:spcPct val="897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20">
                <a:latin typeface="Calibri"/>
                <a:cs typeface="Calibri"/>
              </a:rPr>
              <a:t>Verified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consistent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performance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across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different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platforms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firmware 	versions</a:t>
            </a:r>
            <a:r>
              <a:rPr dirty="0" sz="2750" spc="-10">
                <a:latin typeface="Calibri"/>
                <a:cs typeface="Calibri"/>
              </a:rPr>
              <a:t>.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994" y="1663983"/>
            <a:ext cx="2444591" cy="31461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7576" y="159727"/>
            <a:ext cx="5548936" cy="4040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4916" y="-55625"/>
            <a:ext cx="5595620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MODULE</a:t>
            </a:r>
            <a:r>
              <a:rPr dirty="0" spc="-55"/>
              <a:t> </a:t>
            </a:r>
            <a:r>
              <a:rPr dirty="0"/>
              <a:t>3:</a:t>
            </a:r>
            <a:r>
              <a:rPr dirty="0" spc="-30"/>
              <a:t> </a:t>
            </a:r>
            <a:r>
              <a:rPr dirty="0" spc="-10"/>
              <a:t>FLOWCHART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8040" y="1125289"/>
            <a:ext cx="4813994" cy="45132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4199" y="65680"/>
            <a:ext cx="4606060" cy="4034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61591" y="-144525"/>
            <a:ext cx="4652645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MODULE</a:t>
            </a:r>
            <a:r>
              <a:rPr dirty="0" spc="-55"/>
              <a:t> </a:t>
            </a:r>
            <a:r>
              <a:rPr dirty="0"/>
              <a:t>3:</a:t>
            </a:r>
            <a:r>
              <a:rPr dirty="0" spc="-25"/>
              <a:t> </a:t>
            </a:r>
            <a:r>
              <a:rPr dirty="0" spc="-10"/>
              <a:t>OUTPUT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770760" y="747077"/>
            <a:ext cx="7782559" cy="22231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928369" indent="304165">
              <a:lnSpc>
                <a:spcPct val="100400"/>
              </a:lnSpc>
              <a:spcBef>
                <a:spcPts val="90"/>
              </a:spcBef>
              <a:buAutoNum type="arabicPeriod"/>
              <a:tabLst>
                <a:tab pos="316865" algn="l"/>
              </a:tabLst>
            </a:pPr>
            <a:r>
              <a:rPr dirty="0" sz="2400" spc="-10" b="1">
                <a:latin typeface="Calibri"/>
                <a:cs typeface="Calibri"/>
              </a:rPr>
              <a:t>Interoperability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testing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confirmed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seamless </a:t>
            </a:r>
            <a:r>
              <a:rPr dirty="0" sz="2400" b="1">
                <a:latin typeface="Calibri"/>
                <a:cs typeface="Calibri"/>
              </a:rPr>
              <a:t>communication</a:t>
            </a:r>
            <a:r>
              <a:rPr dirty="0" sz="2400" spc="-10" b="1">
                <a:latin typeface="Calibri"/>
                <a:cs typeface="Calibri"/>
              </a:rPr>
              <a:t> between</a:t>
            </a:r>
            <a:r>
              <a:rPr dirty="0" sz="2400" spc="-7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multiple WiFi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6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devices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from </a:t>
            </a:r>
            <a:r>
              <a:rPr dirty="0" sz="2400" spc="-10" b="1">
                <a:latin typeface="Calibri"/>
                <a:cs typeface="Calibri"/>
              </a:rPr>
              <a:t>different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vendors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without</a:t>
            </a:r>
            <a:r>
              <a:rPr dirty="0" sz="2400" spc="-8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compatibility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failures.</a:t>
            </a:r>
            <a:endParaRPr sz="2400">
              <a:latin typeface="Calibri"/>
              <a:cs typeface="Calibri"/>
            </a:endParaRPr>
          </a:p>
          <a:p>
            <a:pPr marL="316230" indent="-303530">
              <a:lnSpc>
                <a:spcPts val="2855"/>
              </a:lnSpc>
              <a:buAutoNum type="arabicPeriod"/>
              <a:tabLst>
                <a:tab pos="316230" algn="l"/>
              </a:tabLst>
            </a:pPr>
            <a:r>
              <a:rPr dirty="0" sz="2400" b="1">
                <a:latin typeface="Calibri"/>
                <a:cs typeface="Calibri"/>
              </a:rPr>
              <a:t>The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test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environment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demonstrated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consistent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throughput</a:t>
            </a:r>
            <a:endParaRPr sz="2400">
              <a:latin typeface="Calibri"/>
              <a:cs typeface="Calibri"/>
            </a:endParaRPr>
          </a:p>
          <a:p>
            <a:pPr marL="12700" marR="934085">
              <a:lnSpc>
                <a:spcPts val="2850"/>
              </a:lnSpc>
              <a:spcBef>
                <a:spcPts val="170"/>
              </a:spcBef>
            </a:pPr>
            <a:r>
              <a:rPr dirty="0" sz="2400" b="1">
                <a:latin typeface="Calibri"/>
                <a:cs typeface="Calibri"/>
              </a:rPr>
              <a:t>and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stable</a:t>
            </a:r>
            <a:r>
              <a:rPr dirty="0" sz="2400" spc="-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protocol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handling</a:t>
            </a:r>
            <a:r>
              <a:rPr dirty="0" sz="2400" spc="-8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across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diverse</a:t>
            </a:r>
            <a:r>
              <a:rPr dirty="0" sz="2400" spc="-7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hardware, </a:t>
            </a:r>
            <a:r>
              <a:rPr dirty="0" sz="2400" b="1">
                <a:latin typeface="Calibri"/>
                <a:cs typeface="Calibri"/>
              </a:rPr>
              <a:t>ensuring</a:t>
            </a:r>
            <a:r>
              <a:rPr dirty="0" sz="2400" spc="-6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reliable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cross-</a:t>
            </a:r>
            <a:r>
              <a:rPr dirty="0" sz="2400" b="1">
                <a:latin typeface="Calibri"/>
                <a:cs typeface="Calibri"/>
              </a:rPr>
              <a:t>platform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performance.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8825" y="3038474"/>
            <a:ext cx="8134350" cy="38195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1597" y="532017"/>
            <a:ext cx="2968078" cy="40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5405" y="331088"/>
            <a:ext cx="3034030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CONCLUSION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168400" y="1813560"/>
            <a:ext cx="7753350" cy="35401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029" indent="-227329">
              <a:lnSpc>
                <a:spcPts val="2715"/>
              </a:lnSpc>
              <a:spcBef>
                <a:spcPts val="1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Successfully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deployed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configured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complete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WiFi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15"/>
              </a:lnSpc>
            </a:pPr>
            <a:r>
              <a:rPr dirty="0" sz="2400" spc="-10">
                <a:latin typeface="Calibri"/>
                <a:cs typeface="Calibri"/>
              </a:rPr>
              <a:t>network.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63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Achieved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measurable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improvements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speed,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coverage,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reliability.</a:t>
            </a:r>
            <a:endParaRPr sz="2400">
              <a:latin typeface="Calibri"/>
              <a:cs typeface="Calibri"/>
            </a:endParaRPr>
          </a:p>
          <a:p>
            <a:pPr marL="240029" marR="177800" indent="-227329">
              <a:lnSpc>
                <a:spcPts val="25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20">
                <a:latin typeface="Calibri"/>
                <a:cs typeface="Calibri"/>
              </a:rPr>
              <a:t>Validated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WiFi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6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efficiency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through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structured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performance 	evaluation.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Ensured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device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compatibility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via</a:t>
            </a:r>
            <a:r>
              <a:rPr dirty="0" sz="2400" spc="-10">
                <a:latin typeface="Calibri"/>
                <a:cs typeface="Calibri"/>
              </a:rPr>
              <a:t> interoperability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testing.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55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10">
                <a:latin typeface="Calibri"/>
                <a:cs typeface="Calibri"/>
              </a:rPr>
              <a:t>Established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strong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foundation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future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wireless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55"/>
              </a:lnSpc>
            </a:pPr>
            <a:r>
              <a:rPr dirty="0" sz="2400" spc="-10">
                <a:latin typeface="Calibri"/>
                <a:cs typeface="Calibri"/>
              </a:rPr>
              <a:t>enhancements.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0661" y="817741"/>
            <a:ext cx="3358520" cy="4080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5880" y="615949"/>
            <a:ext cx="3436620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FUTURE</a:t>
            </a:r>
            <a:r>
              <a:rPr dirty="0" spc="-90"/>
              <a:t> </a:t>
            </a:r>
            <a:r>
              <a:rPr dirty="0" spc="-10"/>
              <a:t>SCOPE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Integration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65"/>
              <a:t> </a:t>
            </a:r>
            <a:r>
              <a:rPr dirty="0"/>
              <a:t>WiFi</a:t>
            </a:r>
            <a:r>
              <a:rPr dirty="0" spc="40"/>
              <a:t> </a:t>
            </a:r>
            <a:r>
              <a:rPr dirty="0"/>
              <a:t>6E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120"/>
              <a:t> </a:t>
            </a:r>
            <a:r>
              <a:rPr dirty="0"/>
              <a:t>expand</a:t>
            </a:r>
            <a:r>
              <a:rPr dirty="0" spc="45"/>
              <a:t> </a:t>
            </a:r>
            <a:r>
              <a:rPr dirty="0"/>
              <a:t>performance</a:t>
            </a:r>
            <a:r>
              <a:rPr dirty="0" spc="55"/>
              <a:t> </a:t>
            </a:r>
            <a:r>
              <a:rPr dirty="0"/>
              <a:t>into</a:t>
            </a:r>
            <a:r>
              <a:rPr dirty="0" spc="40"/>
              <a:t> </a:t>
            </a:r>
            <a:r>
              <a:rPr dirty="0" spc="-25"/>
              <a:t>the </a:t>
            </a:r>
            <a:r>
              <a:rPr dirty="0"/>
              <a:t>6</a:t>
            </a:r>
            <a:r>
              <a:rPr dirty="0" spc="50"/>
              <a:t> </a:t>
            </a:r>
            <a:r>
              <a:rPr dirty="0"/>
              <a:t>GHz</a:t>
            </a:r>
            <a:r>
              <a:rPr dirty="0" spc="70"/>
              <a:t> </a:t>
            </a:r>
            <a:r>
              <a:rPr dirty="0" spc="-10"/>
              <a:t>spectrum.</a:t>
            </a:r>
          </a:p>
          <a:p>
            <a:pPr marL="241300" marR="1214755" indent="-228600">
              <a:lnSpc>
                <a:spcPts val="301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Adoption</a:t>
            </a:r>
            <a:r>
              <a:rPr dirty="0" spc="65"/>
              <a:t> </a:t>
            </a:r>
            <a:r>
              <a:rPr dirty="0"/>
              <a:t>of</a:t>
            </a:r>
            <a:r>
              <a:rPr dirty="0" spc="95"/>
              <a:t> </a:t>
            </a:r>
            <a:r>
              <a:rPr dirty="0"/>
              <a:t>WiFi</a:t>
            </a:r>
            <a:r>
              <a:rPr dirty="0" spc="70"/>
              <a:t> </a:t>
            </a:r>
            <a:r>
              <a:rPr dirty="0"/>
              <a:t>7</a:t>
            </a:r>
            <a:r>
              <a:rPr dirty="0" spc="45"/>
              <a:t> </a:t>
            </a:r>
            <a:r>
              <a:rPr dirty="0"/>
              <a:t>standards</a:t>
            </a:r>
            <a:r>
              <a:rPr dirty="0" spc="75"/>
              <a:t> </a:t>
            </a:r>
            <a:r>
              <a:rPr dirty="0"/>
              <a:t>for</a:t>
            </a:r>
            <a:r>
              <a:rPr dirty="0" spc="45"/>
              <a:t> </a:t>
            </a:r>
            <a:r>
              <a:rPr dirty="0"/>
              <a:t>multi-</a:t>
            </a:r>
            <a:r>
              <a:rPr dirty="0" spc="-10"/>
              <a:t>gigabit throughput.</a:t>
            </a:r>
          </a:p>
          <a:p>
            <a:pPr marL="241300" marR="1038225" indent="-228600">
              <a:lnSpc>
                <a:spcPts val="301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Use</a:t>
            </a:r>
            <a:r>
              <a:rPr dirty="0" spc="65"/>
              <a:t> </a:t>
            </a:r>
            <a:r>
              <a:rPr dirty="0"/>
              <a:t>of</a:t>
            </a:r>
            <a:r>
              <a:rPr dirty="0" spc="90"/>
              <a:t> </a:t>
            </a:r>
            <a:r>
              <a:rPr dirty="0"/>
              <a:t>AI-driven</a:t>
            </a:r>
            <a:r>
              <a:rPr dirty="0" spc="70"/>
              <a:t> </a:t>
            </a:r>
            <a:r>
              <a:rPr dirty="0"/>
              <a:t>network</a:t>
            </a:r>
            <a:r>
              <a:rPr dirty="0" spc="40"/>
              <a:t> </a:t>
            </a:r>
            <a:r>
              <a:rPr dirty="0"/>
              <a:t>optimization</a:t>
            </a:r>
            <a:r>
              <a:rPr dirty="0" spc="70"/>
              <a:t> </a:t>
            </a:r>
            <a:r>
              <a:rPr dirty="0"/>
              <a:t>tools</a:t>
            </a:r>
            <a:r>
              <a:rPr dirty="0" spc="70"/>
              <a:t> </a:t>
            </a:r>
            <a:r>
              <a:rPr dirty="0" spc="-25"/>
              <a:t>for </a:t>
            </a:r>
            <a:r>
              <a:rPr dirty="0"/>
              <a:t>real-time</a:t>
            </a:r>
            <a:r>
              <a:rPr dirty="0" spc="100"/>
              <a:t> </a:t>
            </a:r>
            <a:r>
              <a:rPr dirty="0" spc="-10"/>
              <a:t>tuning.</a:t>
            </a:r>
          </a:p>
          <a:p>
            <a:pPr marL="241300" marR="1629410" indent="-228600">
              <a:lnSpc>
                <a:spcPts val="301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Expansion</a:t>
            </a:r>
            <a:r>
              <a:rPr dirty="0" spc="180"/>
              <a:t> </a:t>
            </a:r>
            <a:r>
              <a:rPr dirty="0"/>
              <a:t>of</a:t>
            </a:r>
            <a:r>
              <a:rPr dirty="0" spc="114"/>
              <a:t> </a:t>
            </a:r>
            <a:r>
              <a:rPr dirty="0"/>
              <a:t>scalability</a:t>
            </a:r>
            <a:r>
              <a:rPr dirty="0" spc="80"/>
              <a:t> </a:t>
            </a:r>
            <a:r>
              <a:rPr dirty="0"/>
              <a:t>for</a:t>
            </a:r>
            <a:r>
              <a:rPr dirty="0" spc="65"/>
              <a:t> </a:t>
            </a:r>
            <a:r>
              <a:rPr dirty="0"/>
              <a:t>enterprise-</a:t>
            </a:r>
            <a:r>
              <a:rPr dirty="0" spc="-10"/>
              <a:t>level deployments.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905000" y="0"/>
            <a:ext cx="3291204" cy="948055"/>
            <a:chOff x="1905000" y="0"/>
            <a:chExt cx="3291204" cy="94805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7939" y="75063"/>
              <a:ext cx="265476" cy="394082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0" y="0"/>
              <a:ext cx="3290951" cy="9476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61514" y="-144525"/>
            <a:ext cx="2872105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REFERENCES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67700" y="1504886"/>
            <a:ext cx="633412" cy="70008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061591" y="724852"/>
            <a:ext cx="7949565" cy="52241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0665" indent="-227965">
              <a:lnSpc>
                <a:spcPts val="2985"/>
              </a:lnSpc>
              <a:spcBef>
                <a:spcPts val="1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600" b="1">
                <a:latin typeface="Calibri"/>
                <a:cs typeface="Calibri"/>
              </a:rPr>
              <a:t>1.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Cisco</a:t>
            </a:r>
            <a:r>
              <a:rPr dirty="0" sz="2600" spc="-9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Systems.</a:t>
            </a:r>
            <a:r>
              <a:rPr dirty="0" sz="2600" spc="-25" b="1">
                <a:latin typeface="Calibri"/>
                <a:cs typeface="Calibri"/>
              </a:rPr>
              <a:t> </a:t>
            </a:r>
            <a:r>
              <a:rPr dirty="0" sz="2600" spc="-10" i="1">
                <a:latin typeface="Calibri"/>
                <a:cs typeface="Calibri"/>
              </a:rPr>
              <a:t>“Wi-</a:t>
            </a:r>
            <a:r>
              <a:rPr dirty="0" sz="2600" i="1">
                <a:latin typeface="Calibri"/>
                <a:cs typeface="Calibri"/>
              </a:rPr>
              <a:t>Fi</a:t>
            </a:r>
            <a:r>
              <a:rPr dirty="0" sz="2600" spc="-30" i="1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6</a:t>
            </a:r>
            <a:r>
              <a:rPr dirty="0" sz="2600" spc="-75" i="1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(802.11ax):</a:t>
            </a:r>
            <a:r>
              <a:rPr dirty="0" sz="2600" spc="10" i="1">
                <a:latin typeface="Calibri"/>
                <a:cs typeface="Calibri"/>
              </a:rPr>
              <a:t> </a:t>
            </a:r>
            <a:r>
              <a:rPr dirty="0" sz="2600" spc="-30" i="1">
                <a:latin typeface="Calibri"/>
                <a:cs typeface="Calibri"/>
              </a:rPr>
              <a:t>Technical</a:t>
            </a:r>
            <a:r>
              <a:rPr dirty="0" sz="2600" spc="-25" i="1">
                <a:latin typeface="Calibri"/>
                <a:cs typeface="Calibri"/>
              </a:rPr>
              <a:t> </a:t>
            </a:r>
            <a:r>
              <a:rPr dirty="0" sz="2600" spc="-10" i="1">
                <a:latin typeface="Calibri"/>
                <a:cs typeface="Calibri"/>
              </a:rPr>
              <a:t>Overview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985"/>
              </a:lnSpc>
            </a:pPr>
            <a:r>
              <a:rPr dirty="0" sz="2600" i="1">
                <a:latin typeface="Calibri"/>
                <a:cs typeface="Calibri"/>
              </a:rPr>
              <a:t>and</a:t>
            </a:r>
            <a:r>
              <a:rPr dirty="0" sz="2600" spc="-114" i="1">
                <a:latin typeface="Calibri"/>
                <a:cs typeface="Calibri"/>
              </a:rPr>
              <a:t> </a:t>
            </a:r>
            <a:r>
              <a:rPr dirty="0" sz="2600" spc="-10" i="1">
                <a:latin typeface="Calibri"/>
                <a:cs typeface="Calibri"/>
              </a:rPr>
              <a:t>Deployment</a:t>
            </a:r>
            <a:r>
              <a:rPr dirty="0" sz="2600" spc="-100" i="1">
                <a:latin typeface="Calibri"/>
                <a:cs typeface="Calibri"/>
              </a:rPr>
              <a:t> </a:t>
            </a:r>
            <a:r>
              <a:rPr dirty="0" sz="2600" spc="-10" i="1">
                <a:latin typeface="Calibri"/>
                <a:cs typeface="Calibri"/>
              </a:rPr>
              <a:t>Guidelines.”</a:t>
            </a:r>
            <a:r>
              <a:rPr dirty="0" sz="2600" spc="-25" i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Cisco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White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45">
                <a:latin typeface="Calibri"/>
                <a:cs typeface="Calibri"/>
              </a:rPr>
              <a:t>Paper,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2023.</a:t>
            </a:r>
            <a:endParaRPr sz="2600">
              <a:latin typeface="Calibri"/>
              <a:cs typeface="Calibri"/>
            </a:endParaRPr>
          </a:p>
          <a:p>
            <a:pPr marL="241300" marR="222885" indent="-229235">
              <a:lnSpc>
                <a:spcPts val="2780"/>
              </a:lnSpc>
              <a:spcBef>
                <a:spcPts val="1085"/>
              </a:spcBef>
              <a:buFont typeface="Arial MT"/>
              <a:buChar char="•"/>
              <a:tabLst>
                <a:tab pos="241300" algn="l"/>
                <a:tab pos="6645909" algn="l"/>
              </a:tabLst>
            </a:pPr>
            <a:r>
              <a:rPr dirty="0" sz="2600" b="1">
                <a:latin typeface="Calibri"/>
                <a:cs typeface="Calibri"/>
              </a:rPr>
              <a:t>2.</a:t>
            </a:r>
            <a:r>
              <a:rPr dirty="0" sz="2600" spc="-7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IEEE</a:t>
            </a:r>
            <a:r>
              <a:rPr dirty="0" sz="2600" spc="-12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Standards</a:t>
            </a:r>
            <a:r>
              <a:rPr dirty="0" sz="2600" spc="-5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Association.</a:t>
            </a:r>
            <a:r>
              <a:rPr dirty="0" sz="2600" spc="-20" b="1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“IEEE</a:t>
            </a:r>
            <a:r>
              <a:rPr dirty="0" sz="2600" spc="-50" i="1">
                <a:latin typeface="Calibri"/>
                <a:cs typeface="Calibri"/>
              </a:rPr>
              <a:t> </a:t>
            </a:r>
            <a:r>
              <a:rPr dirty="0" sz="2600" spc="-10" i="1">
                <a:latin typeface="Calibri"/>
                <a:cs typeface="Calibri"/>
              </a:rPr>
              <a:t>802.11ax</a:t>
            </a:r>
            <a:r>
              <a:rPr dirty="0" sz="2600" i="1">
                <a:latin typeface="Calibri"/>
                <a:cs typeface="Calibri"/>
              </a:rPr>
              <a:t>	</a:t>
            </a:r>
            <a:r>
              <a:rPr dirty="0" sz="2600" spc="-50" i="1">
                <a:latin typeface="Calibri"/>
                <a:cs typeface="Calibri"/>
              </a:rPr>
              <a:t>— </a:t>
            </a:r>
            <a:r>
              <a:rPr dirty="0" sz="2600" spc="-10" i="1">
                <a:latin typeface="Calibri"/>
                <a:cs typeface="Calibri"/>
              </a:rPr>
              <a:t>Enhancements</a:t>
            </a:r>
            <a:r>
              <a:rPr dirty="0" sz="2600" spc="-114" i="1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for</a:t>
            </a:r>
            <a:r>
              <a:rPr dirty="0" sz="2600" spc="-70" i="1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High</a:t>
            </a:r>
            <a:r>
              <a:rPr dirty="0" sz="2600" spc="-65" i="1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Efficiency</a:t>
            </a:r>
            <a:r>
              <a:rPr dirty="0" sz="2600" spc="-55" i="1">
                <a:latin typeface="Calibri"/>
                <a:cs typeface="Calibri"/>
              </a:rPr>
              <a:t> </a:t>
            </a:r>
            <a:r>
              <a:rPr dirty="0" sz="2600" spc="-10" i="1">
                <a:latin typeface="Calibri"/>
                <a:cs typeface="Calibri"/>
              </a:rPr>
              <a:t>WLAN.”</a:t>
            </a:r>
            <a:r>
              <a:rPr dirty="0" sz="2600" spc="-55" i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IEEE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Standard Documentation,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2021.</a:t>
            </a:r>
            <a:endParaRPr sz="2600">
              <a:latin typeface="Calibri"/>
              <a:cs typeface="Calibri"/>
            </a:endParaRPr>
          </a:p>
          <a:p>
            <a:pPr marL="240029" marR="110489" indent="-227965">
              <a:lnSpc>
                <a:spcPts val="285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Calibri"/>
                <a:cs typeface="Calibri"/>
              </a:rPr>
              <a:t>3.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Intel </a:t>
            </a:r>
            <a:r>
              <a:rPr dirty="0" sz="2600" spc="-10" b="1">
                <a:latin typeface="Calibri"/>
                <a:cs typeface="Calibri"/>
              </a:rPr>
              <a:t>Corporation.</a:t>
            </a:r>
            <a:r>
              <a:rPr dirty="0" sz="2600" spc="-35" b="1">
                <a:latin typeface="Calibri"/>
                <a:cs typeface="Calibri"/>
              </a:rPr>
              <a:t> </a:t>
            </a:r>
            <a:r>
              <a:rPr dirty="0" sz="2600" spc="-10" i="1">
                <a:latin typeface="Calibri"/>
                <a:cs typeface="Calibri"/>
              </a:rPr>
              <a:t>“Wi-</a:t>
            </a:r>
            <a:r>
              <a:rPr dirty="0" sz="2600" i="1">
                <a:latin typeface="Calibri"/>
                <a:cs typeface="Calibri"/>
              </a:rPr>
              <a:t>Fi</a:t>
            </a:r>
            <a:r>
              <a:rPr dirty="0" sz="2600" spc="-25" i="1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6</a:t>
            </a:r>
            <a:r>
              <a:rPr dirty="0" sz="2600" spc="-70" i="1">
                <a:latin typeface="Calibri"/>
                <a:cs typeface="Calibri"/>
              </a:rPr>
              <a:t> </a:t>
            </a:r>
            <a:r>
              <a:rPr dirty="0" sz="2600" spc="-10" i="1">
                <a:latin typeface="Calibri"/>
                <a:cs typeface="Calibri"/>
              </a:rPr>
              <a:t>Performance</a:t>
            </a:r>
            <a:r>
              <a:rPr dirty="0" sz="2600" spc="-70" i="1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Analysis</a:t>
            </a:r>
            <a:r>
              <a:rPr dirty="0" sz="2600" spc="-70" i="1">
                <a:latin typeface="Calibri"/>
                <a:cs typeface="Calibri"/>
              </a:rPr>
              <a:t> </a:t>
            </a:r>
            <a:r>
              <a:rPr dirty="0" sz="2600" spc="-25" i="1">
                <a:latin typeface="Calibri"/>
                <a:cs typeface="Calibri"/>
              </a:rPr>
              <a:t>and </a:t>
            </a:r>
            <a:r>
              <a:rPr dirty="0" sz="2600" spc="-25" i="1">
                <a:latin typeface="Calibri"/>
                <a:cs typeface="Calibri"/>
              </a:rPr>
              <a:t>	</a:t>
            </a:r>
            <a:r>
              <a:rPr dirty="0" sz="2600" spc="-10" i="1">
                <a:latin typeface="Calibri"/>
                <a:cs typeface="Calibri"/>
              </a:rPr>
              <a:t>Multi-</a:t>
            </a:r>
            <a:r>
              <a:rPr dirty="0" sz="2600" i="1">
                <a:latin typeface="Calibri"/>
                <a:cs typeface="Calibri"/>
              </a:rPr>
              <a:t>User</a:t>
            </a:r>
            <a:r>
              <a:rPr dirty="0" sz="2600" spc="-45" i="1">
                <a:latin typeface="Calibri"/>
                <a:cs typeface="Calibri"/>
              </a:rPr>
              <a:t> </a:t>
            </a:r>
            <a:r>
              <a:rPr dirty="0" sz="2600" spc="-25" i="1">
                <a:latin typeface="Calibri"/>
                <a:cs typeface="Calibri"/>
              </a:rPr>
              <a:t>Optimization.”</a:t>
            </a:r>
            <a:r>
              <a:rPr dirty="0" sz="2600" spc="-40" i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Intel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Technology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Report,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2022.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990"/>
              </a:lnSpc>
              <a:spcBef>
                <a:spcPts val="5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Calibri"/>
                <a:cs typeface="Calibri"/>
              </a:rPr>
              <a:t>4.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Aruba</a:t>
            </a:r>
            <a:r>
              <a:rPr dirty="0" sz="2600" spc="-4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Networks</a:t>
            </a:r>
            <a:r>
              <a:rPr dirty="0" sz="2600" spc="-3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(HPE).</a:t>
            </a:r>
            <a:r>
              <a:rPr dirty="0" sz="2600" spc="-5" b="1">
                <a:latin typeface="Calibri"/>
                <a:cs typeface="Calibri"/>
              </a:rPr>
              <a:t> </a:t>
            </a:r>
            <a:r>
              <a:rPr dirty="0" sz="2600" spc="-10" i="1">
                <a:latin typeface="Calibri"/>
                <a:cs typeface="Calibri"/>
              </a:rPr>
              <a:t>“Wi-</a:t>
            </a:r>
            <a:r>
              <a:rPr dirty="0" sz="2600" i="1">
                <a:latin typeface="Calibri"/>
                <a:cs typeface="Calibri"/>
              </a:rPr>
              <a:t>Fi</a:t>
            </a:r>
            <a:r>
              <a:rPr dirty="0" sz="2600" spc="-40" i="1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6</a:t>
            </a:r>
            <a:r>
              <a:rPr dirty="0" sz="2600" spc="-75" i="1">
                <a:latin typeface="Calibri"/>
                <a:cs typeface="Calibri"/>
              </a:rPr>
              <a:t> </a:t>
            </a:r>
            <a:r>
              <a:rPr dirty="0" sz="2600" spc="-10" i="1">
                <a:latin typeface="Calibri"/>
                <a:cs typeface="Calibri"/>
              </a:rPr>
              <a:t>Interoperability,</a:t>
            </a:r>
            <a:endParaRPr sz="2600">
              <a:latin typeface="Calibri"/>
              <a:cs typeface="Calibri"/>
            </a:endParaRPr>
          </a:p>
          <a:p>
            <a:pPr marL="241300" marR="62230">
              <a:lnSpc>
                <a:spcPts val="2780"/>
              </a:lnSpc>
              <a:spcBef>
                <a:spcPts val="244"/>
              </a:spcBef>
            </a:pPr>
            <a:r>
              <a:rPr dirty="0" sz="2600" i="1">
                <a:latin typeface="Calibri"/>
                <a:cs typeface="Calibri"/>
              </a:rPr>
              <a:t>Network</a:t>
            </a:r>
            <a:r>
              <a:rPr dirty="0" sz="2600" spc="-110" i="1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Design,</a:t>
            </a:r>
            <a:r>
              <a:rPr dirty="0" sz="2600" spc="-30" i="1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and</a:t>
            </a:r>
            <a:r>
              <a:rPr dirty="0" sz="2600" spc="-114" i="1">
                <a:latin typeface="Calibri"/>
                <a:cs typeface="Calibri"/>
              </a:rPr>
              <a:t> </a:t>
            </a:r>
            <a:r>
              <a:rPr dirty="0" sz="2600" spc="-10" i="1">
                <a:latin typeface="Calibri"/>
                <a:cs typeface="Calibri"/>
              </a:rPr>
              <a:t>Validation</a:t>
            </a:r>
            <a:r>
              <a:rPr dirty="0" sz="2600" spc="-45" i="1">
                <a:latin typeface="Calibri"/>
                <a:cs typeface="Calibri"/>
              </a:rPr>
              <a:t> Testing.”</a:t>
            </a:r>
            <a:r>
              <a:rPr dirty="0" sz="2600" spc="-10" i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Aruba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Technical </a:t>
            </a:r>
            <a:r>
              <a:rPr dirty="0" sz="2600" spc="-20">
                <a:latin typeface="Calibri"/>
                <a:cs typeface="Calibri"/>
              </a:rPr>
              <a:t>Brief,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2023.</a:t>
            </a:r>
            <a:endParaRPr sz="2600">
              <a:latin typeface="Calibri"/>
              <a:cs typeface="Calibri"/>
            </a:endParaRPr>
          </a:p>
          <a:p>
            <a:pPr marL="241300" marR="873760" indent="-229235">
              <a:lnSpc>
                <a:spcPct val="903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Calibri"/>
                <a:cs typeface="Calibri"/>
              </a:rPr>
              <a:t>5.</a:t>
            </a:r>
            <a:r>
              <a:rPr dirty="0" sz="2600" spc="-55" b="1">
                <a:latin typeface="Calibri"/>
                <a:cs typeface="Calibri"/>
              </a:rPr>
              <a:t> </a:t>
            </a:r>
            <a:r>
              <a:rPr dirty="0" sz="2600" spc="-20" b="1">
                <a:latin typeface="Calibri"/>
                <a:cs typeface="Calibri"/>
              </a:rPr>
              <a:t>TP-</a:t>
            </a:r>
            <a:r>
              <a:rPr dirty="0" sz="2600" b="1">
                <a:latin typeface="Calibri"/>
                <a:cs typeface="Calibri"/>
              </a:rPr>
              <a:t>Link</a:t>
            </a:r>
            <a:r>
              <a:rPr dirty="0" sz="2600" spc="-8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Research</a:t>
            </a:r>
            <a:r>
              <a:rPr dirty="0" sz="2600" spc="-8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Labs.</a:t>
            </a:r>
            <a:r>
              <a:rPr dirty="0" sz="2600" spc="-25" b="1">
                <a:latin typeface="Calibri"/>
                <a:cs typeface="Calibri"/>
              </a:rPr>
              <a:t> </a:t>
            </a:r>
            <a:r>
              <a:rPr dirty="0" sz="2600" spc="-20" i="1">
                <a:latin typeface="Calibri"/>
                <a:cs typeface="Calibri"/>
              </a:rPr>
              <a:t>“Real-</a:t>
            </a:r>
            <a:r>
              <a:rPr dirty="0" sz="2600" i="1">
                <a:latin typeface="Calibri"/>
                <a:cs typeface="Calibri"/>
              </a:rPr>
              <a:t>World</a:t>
            </a:r>
            <a:r>
              <a:rPr dirty="0" sz="2600" spc="-35" i="1">
                <a:latin typeface="Calibri"/>
                <a:cs typeface="Calibri"/>
              </a:rPr>
              <a:t> </a:t>
            </a:r>
            <a:r>
              <a:rPr dirty="0" sz="2600" spc="-10" i="1">
                <a:latin typeface="Calibri"/>
                <a:cs typeface="Calibri"/>
              </a:rPr>
              <a:t>Wi-</a:t>
            </a:r>
            <a:r>
              <a:rPr dirty="0" sz="2600" i="1">
                <a:latin typeface="Calibri"/>
                <a:cs typeface="Calibri"/>
              </a:rPr>
              <a:t>Fi</a:t>
            </a:r>
            <a:r>
              <a:rPr dirty="0" sz="2600" spc="-45" i="1">
                <a:latin typeface="Calibri"/>
                <a:cs typeface="Calibri"/>
              </a:rPr>
              <a:t> </a:t>
            </a:r>
            <a:r>
              <a:rPr dirty="0" sz="2600" spc="-50" i="1">
                <a:latin typeface="Calibri"/>
                <a:cs typeface="Calibri"/>
              </a:rPr>
              <a:t>6 </a:t>
            </a:r>
            <a:r>
              <a:rPr dirty="0" sz="2600" spc="-10" i="1">
                <a:latin typeface="Calibri"/>
                <a:cs typeface="Calibri"/>
              </a:rPr>
              <a:t>Benchmarking:</a:t>
            </a:r>
            <a:r>
              <a:rPr dirty="0" sz="2600" spc="-35" i="1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Throughput,</a:t>
            </a:r>
            <a:r>
              <a:rPr dirty="0" sz="2600" spc="-65" i="1">
                <a:latin typeface="Calibri"/>
                <a:cs typeface="Calibri"/>
              </a:rPr>
              <a:t> </a:t>
            </a:r>
            <a:r>
              <a:rPr dirty="0" sz="2600" spc="-25" i="1">
                <a:latin typeface="Calibri"/>
                <a:cs typeface="Calibri"/>
              </a:rPr>
              <a:t>Latency,</a:t>
            </a:r>
            <a:r>
              <a:rPr dirty="0" sz="2600" spc="-60" i="1">
                <a:latin typeface="Calibri"/>
                <a:cs typeface="Calibri"/>
              </a:rPr>
              <a:t> </a:t>
            </a:r>
            <a:r>
              <a:rPr dirty="0" sz="2600" i="1">
                <a:latin typeface="Calibri"/>
                <a:cs typeface="Calibri"/>
              </a:rPr>
              <a:t>and</a:t>
            </a:r>
            <a:r>
              <a:rPr dirty="0" sz="2600" spc="-10" i="1">
                <a:latin typeface="Calibri"/>
                <a:cs typeface="Calibri"/>
              </a:rPr>
              <a:t> Coverage </a:t>
            </a:r>
            <a:r>
              <a:rPr dirty="0" sz="2600" spc="-25" i="1">
                <a:latin typeface="Calibri"/>
                <a:cs typeface="Calibri"/>
              </a:rPr>
              <a:t>Evaluation.”</a:t>
            </a:r>
            <a:r>
              <a:rPr dirty="0" sz="2600" spc="-60" i="1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TP-</a:t>
            </a:r>
            <a:r>
              <a:rPr dirty="0" sz="2600">
                <a:latin typeface="Calibri"/>
                <a:cs typeface="Calibri"/>
              </a:rPr>
              <a:t>Link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Engineering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Study,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2022.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402" y="2656133"/>
            <a:ext cx="6254031" cy="7794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73451" y="2343403"/>
            <a:ext cx="6256655" cy="12503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0" spc="240">
                <a:latin typeface="Times New Roman"/>
                <a:cs typeface="Times New Roman"/>
              </a:rPr>
              <a:t>THANK</a:t>
            </a:r>
            <a:r>
              <a:rPr dirty="0" sz="8000" spc="-40">
                <a:latin typeface="Times New Roman"/>
                <a:cs typeface="Times New Roman"/>
              </a:rPr>
              <a:t> </a:t>
            </a:r>
            <a:r>
              <a:rPr dirty="0" sz="8000" spc="100">
                <a:latin typeface="Times New Roman"/>
                <a:cs typeface="Times New Roman"/>
              </a:rPr>
              <a:t>YOU</a:t>
            </a:r>
            <a:endParaRPr sz="8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2025-12-22T04:38:52Z</dcterms:created>
  <dcterms:modified xsi:type="dcterms:W3CDTF">2025-12-22T04:38:52Z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2025-12-17T00:00:00Z</vt:filetime>
  </property>
  <property fmtid="{D5CDD505-2E9C-101B-9397-08002B2CF9AE}" pid="3" name="LastSaved">
    <vt:filetime>2025-12-22T00:00:00Z</vt:filetime>
  </property>
</Properties>
</file>